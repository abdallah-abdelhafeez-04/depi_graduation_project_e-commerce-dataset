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61" r:id="rId2"/>
    <p:sldId id="262" r:id="rId3"/>
    <p:sldId id="271" r:id="rId4"/>
    <p:sldId id="263" r:id="rId5"/>
    <p:sldId id="268" r:id="rId6"/>
    <p:sldId id="269" r:id="rId7"/>
    <p:sldId id="272" r:id="rId8"/>
    <p:sldId id="265" r:id="rId9"/>
    <p:sldId id="273" r:id="rId10"/>
    <p:sldId id="274" r:id="rId11"/>
    <p:sldId id="270" r:id="rId12"/>
    <p:sldId id="266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8589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2618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3632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5816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0498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05414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ctrTitle"/>
          </p:nvPr>
        </p:nvSpPr>
        <p:spPr>
          <a:xfrm>
            <a:off x="1960418" y="918003"/>
            <a:ext cx="8271164" cy="1404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E-commerce Dataset</a:t>
            </a:r>
            <a:endParaRPr dirty="0"/>
          </a:p>
        </p:txBody>
      </p:sp>
      <p:sp>
        <p:nvSpPr>
          <p:cNvPr id="161" name="Google Shape;161;p6"/>
          <p:cNvSpPr txBox="1">
            <a:spLocks noGrp="1"/>
          </p:cNvSpPr>
          <p:nvPr>
            <p:ph type="subTitle" idx="1"/>
          </p:nvPr>
        </p:nvSpPr>
        <p:spPr>
          <a:xfrm>
            <a:off x="1524000" y="2387301"/>
            <a:ext cx="9144000" cy="18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lvl="0" indent="0">
              <a:spcBef>
                <a:spcPts val="0"/>
              </a:spcBef>
            </a:pPr>
            <a:r>
              <a:rPr lang="en-US" sz="7200" dirty="0"/>
              <a:t>Analysis &amp; Optimization of Customer Behavior and Sales</a:t>
            </a:r>
          </a:p>
          <a:p>
            <a:pPr marL="0" lvl="0" indent="0">
              <a:spcBef>
                <a:spcPts val="0"/>
              </a:spcBef>
            </a:pPr>
            <a:endParaRPr lang="en-US" sz="1800" dirty="0"/>
          </a:p>
          <a:p>
            <a:pPr algn="l"/>
            <a:endParaRPr lang="en-US" sz="7200" b="1" dirty="0"/>
          </a:p>
          <a:p>
            <a:pPr algn="l"/>
            <a:endParaRPr lang="en-US" sz="7200" b="1" dirty="0"/>
          </a:p>
          <a:p>
            <a:r>
              <a:rPr lang="en-US" sz="7200" b="1" dirty="0">
                <a:solidFill>
                  <a:srgbClr val="00B050"/>
                </a:solidFill>
              </a:rPr>
              <a:t>Project By:</a:t>
            </a:r>
          </a:p>
          <a:p>
            <a:r>
              <a:rPr lang="en-US" sz="7200" b="1" dirty="0" err="1">
                <a:solidFill>
                  <a:srgbClr val="00B050"/>
                </a:solidFill>
              </a:rPr>
              <a:t>Ghada</a:t>
            </a:r>
            <a:r>
              <a:rPr lang="en-US" sz="7200" b="1" dirty="0">
                <a:solidFill>
                  <a:srgbClr val="00B050"/>
                </a:solidFill>
              </a:rPr>
              <a:t> </a:t>
            </a:r>
            <a:r>
              <a:rPr lang="en-US" sz="7200" b="1" dirty="0" err="1">
                <a:solidFill>
                  <a:srgbClr val="00B050"/>
                </a:solidFill>
              </a:rPr>
              <a:t>Ragab</a:t>
            </a:r>
            <a:r>
              <a:rPr lang="en-US" sz="7200" b="1" dirty="0">
                <a:solidFill>
                  <a:srgbClr val="00B050"/>
                </a:solidFill>
              </a:rPr>
              <a:t> Ali Abdullah (Team Leader)</a:t>
            </a:r>
          </a:p>
          <a:p>
            <a:r>
              <a:rPr lang="en-US" sz="7200" b="1" dirty="0">
                <a:solidFill>
                  <a:srgbClr val="00B050"/>
                </a:solidFill>
              </a:rPr>
              <a:t>Abdallah Abdelhafeez Saber Abdallah</a:t>
            </a:r>
          </a:p>
          <a:p>
            <a:r>
              <a:rPr lang="en-US" sz="7200" b="1" dirty="0" err="1">
                <a:solidFill>
                  <a:srgbClr val="00B050"/>
                </a:solidFill>
              </a:rPr>
              <a:t>Basmala</a:t>
            </a:r>
            <a:r>
              <a:rPr lang="en-US" sz="7200" b="1" dirty="0">
                <a:solidFill>
                  <a:srgbClr val="00B050"/>
                </a:solidFill>
              </a:rPr>
              <a:t> </a:t>
            </a:r>
            <a:r>
              <a:rPr lang="en-US" sz="7200" b="1" dirty="0" err="1">
                <a:solidFill>
                  <a:srgbClr val="00B050"/>
                </a:solidFill>
              </a:rPr>
              <a:t>Sherif</a:t>
            </a:r>
            <a:r>
              <a:rPr lang="en-US" sz="7200" b="1" dirty="0">
                <a:solidFill>
                  <a:srgbClr val="00B050"/>
                </a:solidFill>
              </a:rPr>
              <a:t> Sayed </a:t>
            </a:r>
            <a:r>
              <a:rPr lang="en-US" sz="7200" b="1" dirty="0" err="1">
                <a:solidFill>
                  <a:srgbClr val="00B050"/>
                </a:solidFill>
              </a:rPr>
              <a:t>Abdelrahman</a:t>
            </a:r>
            <a:endParaRPr lang="en-US" sz="7200" b="1" dirty="0">
              <a:solidFill>
                <a:srgbClr val="00B050"/>
              </a:solidFill>
            </a:endParaRPr>
          </a:p>
          <a:p>
            <a:r>
              <a:rPr lang="en-US" sz="7200" b="1" dirty="0" err="1">
                <a:solidFill>
                  <a:srgbClr val="00B050"/>
                </a:solidFill>
              </a:rPr>
              <a:t>Basmala</a:t>
            </a:r>
            <a:r>
              <a:rPr lang="en-US" sz="7200" b="1" dirty="0">
                <a:solidFill>
                  <a:srgbClr val="00B050"/>
                </a:solidFill>
              </a:rPr>
              <a:t> Mohamed Rashad </a:t>
            </a:r>
            <a:r>
              <a:rPr lang="en-US" sz="7200" b="1" dirty="0" err="1">
                <a:solidFill>
                  <a:srgbClr val="00B050"/>
                </a:solidFill>
              </a:rPr>
              <a:t>Aliwa</a:t>
            </a:r>
            <a:endParaRPr lang="en-US" sz="7200" b="1" dirty="0">
              <a:solidFill>
                <a:srgbClr val="00B050"/>
              </a:solidFill>
            </a:endParaRPr>
          </a:p>
          <a:p>
            <a:r>
              <a:rPr lang="en-US" sz="7200" b="1" dirty="0" err="1">
                <a:solidFill>
                  <a:srgbClr val="00B050"/>
                </a:solidFill>
              </a:rPr>
              <a:t>Abdulrahman</a:t>
            </a:r>
            <a:r>
              <a:rPr lang="en-US" sz="7200" b="1" dirty="0">
                <a:solidFill>
                  <a:srgbClr val="00B050"/>
                </a:solidFill>
              </a:rPr>
              <a:t> </a:t>
            </a:r>
            <a:r>
              <a:rPr lang="en-US" sz="7200" b="1" dirty="0" err="1">
                <a:solidFill>
                  <a:srgbClr val="00B050"/>
                </a:solidFill>
              </a:rPr>
              <a:t>Shehata</a:t>
            </a:r>
            <a:r>
              <a:rPr lang="en-US" sz="7200" b="1" dirty="0">
                <a:solidFill>
                  <a:srgbClr val="00B050"/>
                </a:solidFill>
              </a:rPr>
              <a:t> Osman</a:t>
            </a:r>
          </a:p>
          <a:p>
            <a:r>
              <a:rPr lang="en-US" sz="7200" b="1" dirty="0" err="1">
                <a:solidFill>
                  <a:srgbClr val="00B050"/>
                </a:solidFill>
              </a:rPr>
              <a:t>Fatma</a:t>
            </a:r>
            <a:r>
              <a:rPr lang="en-US" sz="7200" b="1" dirty="0">
                <a:solidFill>
                  <a:srgbClr val="00B050"/>
                </a:solidFill>
              </a:rPr>
              <a:t> </a:t>
            </a:r>
            <a:r>
              <a:rPr lang="en-US" sz="7200" b="1" dirty="0" err="1">
                <a:solidFill>
                  <a:srgbClr val="00B050"/>
                </a:solidFill>
              </a:rPr>
              <a:t>Alzahraa</a:t>
            </a:r>
            <a:r>
              <a:rPr lang="en-US" sz="7200" b="1" dirty="0">
                <a:solidFill>
                  <a:srgbClr val="00B050"/>
                </a:solidFill>
              </a:rPr>
              <a:t> Mohamed</a:t>
            </a:r>
          </a:p>
          <a:p>
            <a:pPr marL="0" lvl="0" indent="0">
              <a:spcBef>
                <a:spcPts val="0"/>
              </a:spcBef>
            </a:pPr>
            <a:endParaRPr lang="en-US" sz="1800" dirty="0"/>
          </a:p>
          <a:p>
            <a:pPr marL="0" lvl="0" indent="0">
              <a:spcBef>
                <a:spcPts val="0"/>
              </a:spcBef>
            </a:pPr>
            <a:endParaRPr lang="en-US" sz="1800" dirty="0"/>
          </a:p>
        </p:txBody>
      </p:sp>
      <p:sp>
        <p:nvSpPr>
          <p:cNvPr id="16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63" name="Google Shape;163;p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D76960BE-DA68-AD54-037E-4185C12CA70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72" name="Google Shape;172;p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03067B1-3EC8-45DB-2361-DD07914C4FB8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990109" y="1484201"/>
            <a:ext cx="8063346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Scope &amp; Objective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e-commerce platform generates vast amounts of raw data daily. Without proper analysis, customer behavior patterns and revenue opportunities remain hidden.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transform raw customer and transaction data into actionable business insights using Data Science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Objectives: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and preprocess raw data for accuracy.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customer demographics and purchasing habits.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an interactive dashboard for real-time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149" y="1953491"/>
            <a:ext cx="2716542" cy="24799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2576945" y="607003"/>
            <a:ext cx="6559550" cy="445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ts val="4400"/>
            </a:pPr>
            <a:r>
              <a:rPr lang="en-US" b="1" dirty="0"/>
              <a:t>Project Workflow</a:t>
            </a:r>
            <a:endParaRPr b="1" dirty="0"/>
          </a:p>
        </p:txBody>
      </p:sp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ounded Rectangle 7"/>
          <p:cNvSpPr/>
          <p:nvPr/>
        </p:nvSpPr>
        <p:spPr>
          <a:xfrm>
            <a:off x="526473" y="2909456"/>
            <a:ext cx="1828800" cy="9144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Data Collection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81400" y="2909456"/>
            <a:ext cx="1828800" cy="9144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Cleaning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81800" y="2909456"/>
            <a:ext cx="1828800" cy="9144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EDA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53647" y="2910036"/>
            <a:ext cx="1828800" cy="914400"/>
          </a:xfrm>
          <a:prstGeom prst="roundRect">
            <a:avLst/>
          </a:prstGeom>
          <a:solidFill>
            <a:srgbClr val="336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3090175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>
            <a:spLocks noGrp="1"/>
          </p:cNvSpPr>
          <p:nvPr>
            <p:ph type="title"/>
          </p:nvPr>
        </p:nvSpPr>
        <p:spPr>
          <a:xfrm>
            <a:off x="2881745" y="676276"/>
            <a:ext cx="6559550" cy="10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 dirty="0"/>
              <a:t>End User and features</a:t>
            </a:r>
            <a:endParaRPr b="1" dirty="0"/>
          </a:p>
        </p:txBody>
      </p:sp>
      <p:sp>
        <p:nvSpPr>
          <p:cNvPr id="181" name="Google Shape;18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82" name="Google Shape;182;p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" name="Google Shape;18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85" name="Google Shape;185;p8"/>
          <p:cNvSpPr/>
          <p:nvPr/>
        </p:nvSpPr>
        <p:spPr>
          <a:xfrm rot="5400000">
            <a:off x="-965997" y="4069881"/>
            <a:ext cx="1942680" cy="1469097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94B9D6"/>
          </a:solidFill>
          <a:ln w="12700" cap="flat" cmpd="sng">
            <a:solidFill>
              <a:srgbClr val="94B9D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B91F1AEC-48E9-F4E8-B40E-4B2E0BCA40B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2554725" y="2179555"/>
            <a:ext cx="645621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End Users:</a:t>
            </a:r>
          </a:p>
          <a:p>
            <a:r>
              <a:rPr lang="en-US" sz="2400" dirty="0"/>
              <a:t>• Marketing teams</a:t>
            </a:r>
          </a:p>
          <a:p>
            <a:r>
              <a:rPr lang="en-US" sz="2400" dirty="0"/>
              <a:t>• Business analysts</a:t>
            </a:r>
          </a:p>
          <a:p>
            <a:r>
              <a:rPr lang="en-US" sz="2400" dirty="0"/>
              <a:t>• E-commerce managers</a:t>
            </a:r>
          </a:p>
          <a:p>
            <a:endParaRPr lang="en-US" sz="2400" b="1" dirty="0"/>
          </a:p>
          <a:p>
            <a:r>
              <a:rPr lang="en-US" sz="2400" b="1" dirty="0"/>
              <a:t>Key Features:</a:t>
            </a:r>
          </a:p>
          <a:p>
            <a:r>
              <a:rPr lang="en-US" sz="2400" dirty="0"/>
              <a:t>• Customer segmentation</a:t>
            </a:r>
          </a:p>
          <a:p>
            <a:r>
              <a:rPr lang="en-US" sz="2400" dirty="0"/>
              <a:t>• Trend analysis &amp; forecasting</a:t>
            </a:r>
          </a:p>
          <a:p>
            <a:r>
              <a:rPr lang="en-US" sz="2400" dirty="0"/>
              <a:t>• Interactive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2937163" y="440749"/>
            <a:ext cx="6559550" cy="778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/>
              <a:t>Data Structure</a:t>
            </a:r>
            <a:endParaRPr b="1" dirty="0"/>
          </a:p>
        </p:txBody>
      </p:sp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77091" y="1219393"/>
            <a:ext cx="117348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Dataset Format: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CSV file containing customer-level data (demographics, activity, spending).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Dataset Shape: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Thousands of customer records; 10–25 features per customer.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Key Fields: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Age, gender, location, registration date, total spend, purchase frequency, last activity date.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 Types: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Numerical (age, spending), categorical (gender, status),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datetime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(registration &amp; last purchase).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 Flow: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Import → Clean (types, missing values, duplicates) → Feature engineering → Analysis →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Techniques Used: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Handling missing values, outlier checks, encoding categories, date transformations, scaling for clustering.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Value of Structure: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Supports segmentation, trend analysis, and clear insights for marketing &amp;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2856647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2563091" y="122094"/>
            <a:ext cx="7128977" cy="134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sz="3200" b="1" dirty="0"/>
              <a:t>Star Scheme Model For the Data </a:t>
            </a:r>
            <a:endParaRPr sz="3200" b="1" dirty="0"/>
          </a:p>
        </p:txBody>
      </p:sp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838200" y="1774310"/>
            <a:ext cx="115408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1310" y="1233055"/>
            <a:ext cx="8589818" cy="459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05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2563091" y="122094"/>
            <a:ext cx="7128977" cy="1346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sz="3200" b="1" dirty="0"/>
              <a:t>Programming Languages + Frameworks</a:t>
            </a:r>
            <a:endParaRPr sz="3200" b="1" dirty="0"/>
          </a:p>
        </p:txBody>
      </p:sp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838200" y="1774310"/>
            <a:ext cx="1154083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• Python (Pandas, </a:t>
            </a:r>
            <a:r>
              <a:rPr lang="en-US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Matplotlib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):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for cleaning and preprocessing the data  </a:t>
            </a:r>
          </a:p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•Power BI :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For visualization, analysis and reporting the data</a:t>
            </a:r>
          </a:p>
          <a:p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• Excel :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For Analysis using Pivot tables and modeling using power pivot the data .</a:t>
            </a:r>
          </a:p>
        </p:txBody>
      </p:sp>
    </p:spTree>
    <p:extLst>
      <p:ext uri="{BB962C8B-B14F-4D97-AF65-F5344CB8AC3E}">
        <p14:creationId xmlns:p14="http://schemas.microsoft.com/office/powerpoint/2010/main" val="2969480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 txBox="1">
            <a:spLocks noGrp="1"/>
          </p:cNvSpPr>
          <p:nvPr>
            <p:ph type="body" idx="1"/>
          </p:nvPr>
        </p:nvSpPr>
        <p:spPr>
          <a:xfrm>
            <a:off x="1317523" y="658761"/>
            <a:ext cx="5014004" cy="10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>
              <a:spcBef>
                <a:spcPts val="0"/>
              </a:spcBef>
              <a:buSzPts val="2800"/>
              <a:buNone/>
            </a:pPr>
            <a:r>
              <a:rPr lang="en-US" sz="3200" b="1" dirty="0"/>
              <a:t>Deliverables</a:t>
            </a:r>
            <a:endParaRPr sz="3200" b="1" dirty="0"/>
          </a:p>
        </p:txBody>
      </p:sp>
      <p:sp>
        <p:nvSpPr>
          <p:cNvPr id="202" name="Google Shape;20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03" name="Google Shape;203;p1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7326052" y="3727630"/>
            <a:ext cx="4196424" cy="664698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indent="-347472" algn="ctr">
              <a:spcBef>
                <a:spcPts val="768"/>
              </a:spcBef>
            </a:pPr>
            <a:r>
              <a:rPr lang="en-US" sz="2000" b="1" kern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Interactive dashboard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326052" y="2563210"/>
            <a:ext cx="4196424" cy="661181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2000" b="1" kern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EDA visuals &amp; segmentation results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7326052" y="1377598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>
            <a:spLocks noGrp="1"/>
          </p:cNvSpPr>
          <p:nvPr>
            <p:ph type="title"/>
          </p:nvPr>
        </p:nvSpPr>
        <p:spPr>
          <a:xfrm>
            <a:off x="7326052" y="1377598"/>
            <a:ext cx="4196424" cy="1012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/>
            <a:r>
              <a:rPr lang="en-US" sz="1800" b="1" kern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Cleaned dataset &amp; analysis notebooks</a:t>
            </a:r>
            <a:b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sz="1800" dirty="0">
              <a:solidFill>
                <a:schemeClr val="lt1"/>
              </a:solidFill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559F335-69B1-7484-EFC6-3ED9C8D58DA7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05;p10"/>
          <p:cNvSpPr/>
          <p:nvPr/>
        </p:nvSpPr>
        <p:spPr>
          <a:xfrm>
            <a:off x="7326052" y="4960793"/>
            <a:ext cx="4196424" cy="827092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indent="-347472" algn="ctr">
              <a:spcBef>
                <a:spcPts val="768"/>
              </a:spcBef>
            </a:pPr>
            <a:r>
              <a:rPr lang="en-US" sz="2000" b="1" kern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• Final report &amp; presentation slides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677C43-5AAE-1100-55F6-8744AB51F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16" y="1377598"/>
            <a:ext cx="6902245" cy="46692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dirty="0"/>
          </a:p>
        </p:txBody>
      </p:sp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24EB33-A0D5-5EF3-493C-B69D451CC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985" y="1196698"/>
            <a:ext cx="11267768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517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2102AF-EF74-A558-B680-995A4B06F1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65D4CF13-9551-AD17-4BC5-1B2DCAFF0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0" y="1160206"/>
            <a:ext cx="11749549" cy="507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433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3254379" y="413041"/>
            <a:ext cx="5756564" cy="833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dirty="0"/>
              <a:t> Key Analysis &amp; Insights</a:t>
            </a:r>
            <a:endParaRPr dirty="0"/>
          </a:p>
        </p:txBody>
      </p:sp>
      <p:sp>
        <p:nvSpPr>
          <p:cNvPr id="192" name="Google Shape;19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93" name="Google Shape;193;p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325A2E1-EEF7-90FC-497A-24325092349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58334" y="1419111"/>
            <a:ext cx="11748654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Performance: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"By analyzing order volumes across categories, we identified distinct performance trends between high-frequency items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'Alimentos' (Food)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high-value categories like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Eletrônicos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 (Electronics)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Geographic Distribution: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"Using the extracted State data, we mapped customer density to pinpoint underperforming regions versus high-growth markets for targeted logistics improvements."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Preferences: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"We examined the distribution of payment methods—specifically comparing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Credit Card,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Boleto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Pix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—to understand customer financial behaviors and checkout preferences."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fulfillment: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"We tracked the 'Order Status' lifecycle from 'Pending' to 'Delivered' to identify potential bottlenecks in the supply chain."</a:t>
            </a:r>
          </a:p>
        </p:txBody>
      </p:sp>
    </p:spTree>
    <p:extLst>
      <p:ext uri="{BB962C8B-B14F-4D97-AF65-F5344CB8AC3E}">
        <p14:creationId xmlns:p14="http://schemas.microsoft.com/office/powerpoint/2010/main" val="2716268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713509" y="501651"/>
            <a:ext cx="10515600" cy="55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50800" algn="ctr">
              <a:spcBef>
                <a:spcPts val="0"/>
              </a:spcBef>
              <a:buSzPts val="2800"/>
              <a:buNone/>
            </a:pPr>
            <a:r>
              <a:rPr lang="en-US" sz="3600" b="1" dirty="0"/>
              <a:t>Project Team + Roles</a:t>
            </a:r>
            <a:endParaRPr sz="3600" b="1" dirty="0"/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16" name="Google Shape;216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E0295A1-3AEC-1EA2-58F1-FD4A8C06D63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1967345" y="2258291"/>
            <a:ext cx="926176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• </a:t>
            </a:r>
            <a:r>
              <a:rPr lang="en-US" sz="2000" dirty="0" err="1"/>
              <a:t>Ghada</a:t>
            </a:r>
            <a:r>
              <a:rPr lang="en-US" sz="2000" dirty="0"/>
              <a:t> </a:t>
            </a:r>
            <a:r>
              <a:rPr lang="en-US" sz="2000" dirty="0" err="1"/>
              <a:t>Ragab</a:t>
            </a:r>
            <a:r>
              <a:rPr lang="en-US" sz="2000" dirty="0"/>
              <a:t> Ali                           </a:t>
            </a:r>
            <a:r>
              <a:rPr lang="en-US" sz="2000" b="1" dirty="0"/>
              <a:t>Analysis &amp; Insights  (Team Leader)</a:t>
            </a:r>
          </a:p>
          <a:p>
            <a:r>
              <a:rPr lang="en-US" sz="2000" dirty="0"/>
              <a:t>• </a:t>
            </a:r>
            <a:r>
              <a:rPr lang="en-US" sz="2000" dirty="0" err="1"/>
              <a:t>Basmala</a:t>
            </a:r>
            <a:r>
              <a:rPr lang="en-US" sz="2000" dirty="0"/>
              <a:t> </a:t>
            </a:r>
            <a:r>
              <a:rPr lang="en-US" sz="2000" dirty="0" err="1"/>
              <a:t>Sherif</a:t>
            </a:r>
            <a:r>
              <a:rPr lang="en-US" sz="2000" dirty="0"/>
              <a:t>                              </a:t>
            </a:r>
            <a:r>
              <a:rPr lang="en-US" sz="2000" b="1" dirty="0"/>
              <a:t>Cleaning &amp; Preprocessing</a:t>
            </a:r>
          </a:p>
          <a:p>
            <a:r>
              <a:rPr lang="en-US" sz="2000" dirty="0"/>
              <a:t>• Abdallah Abdelhafeez                    </a:t>
            </a:r>
            <a:r>
              <a:rPr lang="en-US" sz="2000" b="1" dirty="0"/>
              <a:t>Cleaning &amp; Preprocessing</a:t>
            </a:r>
          </a:p>
          <a:p>
            <a:r>
              <a:rPr lang="en-US" sz="2000" dirty="0"/>
              <a:t>• </a:t>
            </a:r>
            <a:r>
              <a:rPr lang="en-US" sz="2000" dirty="0" err="1"/>
              <a:t>Basmala</a:t>
            </a:r>
            <a:r>
              <a:rPr lang="en-US" sz="2000" dirty="0"/>
              <a:t> </a:t>
            </a:r>
            <a:r>
              <a:rPr lang="en-US" sz="2000" dirty="0" err="1"/>
              <a:t>Aliwa</a:t>
            </a:r>
            <a:r>
              <a:rPr lang="en-US" sz="2000" dirty="0"/>
              <a:t>                                </a:t>
            </a:r>
            <a:r>
              <a:rPr lang="en-US" sz="2000" b="1" dirty="0"/>
              <a:t>Dashboard Development</a:t>
            </a:r>
          </a:p>
          <a:p>
            <a:r>
              <a:rPr lang="en-US" sz="2000" dirty="0"/>
              <a:t>• </a:t>
            </a:r>
            <a:r>
              <a:rPr lang="en-US" sz="2000" dirty="0" err="1"/>
              <a:t>Abdulrahman</a:t>
            </a:r>
            <a:r>
              <a:rPr lang="en-US" sz="2000" dirty="0"/>
              <a:t> </a:t>
            </a:r>
            <a:r>
              <a:rPr lang="en-US" sz="2000" dirty="0" err="1"/>
              <a:t>Shehata</a:t>
            </a:r>
            <a:r>
              <a:rPr lang="en-US" sz="2000" dirty="0"/>
              <a:t>                    </a:t>
            </a:r>
            <a:r>
              <a:rPr lang="en-US" sz="2000" b="1" dirty="0"/>
              <a:t>Dashboard Development</a:t>
            </a:r>
          </a:p>
          <a:p>
            <a:r>
              <a:rPr lang="en-US" sz="2000" dirty="0"/>
              <a:t>• </a:t>
            </a:r>
            <a:r>
              <a:rPr lang="en-US" sz="2000" dirty="0" err="1"/>
              <a:t>Fatma</a:t>
            </a:r>
            <a:r>
              <a:rPr lang="en-US" sz="2000" dirty="0"/>
              <a:t> </a:t>
            </a:r>
            <a:r>
              <a:rPr lang="en-US" sz="2000" dirty="0" err="1"/>
              <a:t>Alzahraa</a:t>
            </a:r>
            <a:r>
              <a:rPr lang="en-US" sz="2000" dirty="0"/>
              <a:t>                               </a:t>
            </a:r>
            <a:r>
              <a:rPr lang="en-US" sz="2000" b="1" dirty="0"/>
              <a:t>Analysis &amp; Insights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24" name="Google Shape;224;p1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58C33320-60ED-A251-AB49-C1349DCD930A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4727093" y="1723403"/>
            <a:ext cx="25795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581747" y="2492844"/>
            <a:ext cx="48702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Questions or feedback are welcome!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1400" y="3603136"/>
            <a:ext cx="50984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Feel free to contact me 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5037" y="4126356"/>
            <a:ext cx="367119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/>
              <a:t>abdallahabdelhafeez2004@gmail.com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572</Words>
  <Application>Microsoft Office PowerPoint</Application>
  <PresentationFormat>Widescreen</PresentationFormat>
  <Paragraphs>94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Arial</vt:lpstr>
      <vt:lpstr>Office Theme</vt:lpstr>
      <vt:lpstr>E-commerce Dataset</vt:lpstr>
      <vt:lpstr>Project Scope &amp; Objective Problem Statement: The e-commerce platform generates vast amounts of raw data daily. Without proper analysis, customer behavior patterns and revenue opportunities remain hidden. Our Goal: To transform raw customer and transaction data into actionable business insights using Data Science techniques. Key Objectives: Clean and preprocess raw data for accuracy. Analyze customer demographics and purchasing habits. Build an interactive dashboard for real-time decision-making. </vt:lpstr>
      <vt:lpstr>Project Workflow</vt:lpstr>
      <vt:lpstr>End User and features</vt:lpstr>
      <vt:lpstr>Data Structure</vt:lpstr>
      <vt:lpstr>Star Scheme Model For the Data </vt:lpstr>
      <vt:lpstr>Programming Languages + Frameworks</vt:lpstr>
      <vt:lpstr>• Cleaned dataset &amp; analysis notebooks </vt:lpstr>
      <vt:lpstr>PowerPoint Presentation</vt:lpstr>
      <vt:lpstr>PowerPoint Presentation</vt:lpstr>
      <vt:lpstr> Key Analysis &amp; Insights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</dc:creator>
  <cp:lastModifiedBy>Ahmed Ali Ahmed Tawfiq</cp:lastModifiedBy>
  <cp:revision>14</cp:revision>
  <dcterms:created xsi:type="dcterms:W3CDTF">2024-03-14T10:03:54Z</dcterms:created>
  <dcterms:modified xsi:type="dcterms:W3CDTF">2025-11-30T18:28:30Z</dcterms:modified>
</cp:coreProperties>
</file>